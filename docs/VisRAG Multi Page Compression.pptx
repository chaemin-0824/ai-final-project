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Playfair Displ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9923A3D-9EEA-456B-868E-FAADA822F024}">
  <a:tblStyle styleId="{E9923A3D-9EEA-456B-868E-FAADA822F02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layfairDispl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ayfairDisplay-bold.fntdata"/><Relationship Id="rId18" Type="http://schemas.openxmlformats.org/officeDocument/2006/relationships/font" Target="fonts/PlayfairDis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49cacf47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49cacf47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49cacf47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49cacf47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59f8e9f1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59f8e9f1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59f8e9f1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59f8e9f1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59f8e9f1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59f8e9f1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59f8e9f1a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59f8e9f1a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59f8e9f1a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59f8e9f1a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59f8e9f1a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59f8e9f1a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49cacf47b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49cacf47b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b7e26a1c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b7e26a1c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VisRAG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DocParse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Younghyeok Kim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VisRAG Architecture Diagram</a:t>
            </a:r>
            <a:endParaRPr/>
          </a:p>
        </p:txBody>
      </p:sp>
      <p:pic>
        <p:nvPicPr>
          <p:cNvPr id="71" name="Google Shape;71;p15" title="diagram_base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2037" y="1017450"/>
            <a:ext cx="5039924" cy="399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VisRAG Architecture Diagram</a:t>
            </a:r>
            <a:endParaRPr/>
          </a:p>
        </p:txBody>
      </p:sp>
      <p:pic>
        <p:nvPicPr>
          <p:cNvPr id="77" name="Google Shape;77;p16" title="diagram_base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69850"/>
            <a:ext cx="4824513" cy="382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 title="diagram_exp0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9313" y="1169850"/>
            <a:ext cx="3862284" cy="3113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diagram_exp00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201" y="1976450"/>
            <a:ext cx="6587796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diagram_exp00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4201" y="1976450"/>
            <a:ext cx="6587796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 title="diagram_phas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345837" y="1976450"/>
            <a:ext cx="828787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 title="diagram_summary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773900" y="2134952"/>
            <a:ext cx="9144003" cy="4826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DocParse Architecture Diagram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7" title="diagram_exp0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453" y="1014879"/>
            <a:ext cx="4979098" cy="401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Selective Routing Architecture Diagram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 title="diagram_exp0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7800" y="1017450"/>
            <a:ext cx="5008399" cy="391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Chart Aware Routing Architecture Diagram</a:t>
            </a:r>
            <a:endParaRPr/>
          </a:p>
        </p:txBody>
      </p:sp>
      <p:pic>
        <p:nvPicPr>
          <p:cNvPr id="100" name="Google Shape;100;p19" title="diagram_exp0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9675" y="1017450"/>
            <a:ext cx="5284649" cy="4126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VisRAG Architecture Diagram</a:t>
            </a:r>
            <a:endParaRPr/>
          </a:p>
        </p:txBody>
      </p:sp>
      <p:pic>
        <p:nvPicPr>
          <p:cNvPr id="106" name="Google Shape;106;p20" title="diagram_phase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800" y="1017450"/>
            <a:ext cx="6648412" cy="412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Diagram Summary</a:t>
            </a:r>
            <a:endParaRPr/>
          </a:p>
        </p:txBody>
      </p:sp>
      <p:pic>
        <p:nvPicPr>
          <p:cNvPr id="112" name="Google Shape;112;p21" title="diagram_summa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812" y="1017450"/>
            <a:ext cx="7808374" cy="4121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graphicFrame>
        <p:nvGraphicFramePr>
          <p:cNvPr id="118" name="Google Shape;118;p22"/>
          <p:cNvGraphicFramePr/>
          <p:nvPr/>
        </p:nvGraphicFramePr>
        <p:xfrm>
          <a:off x="311700" y="101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{E9923A3D-9EEA-456B-868E-FAADA822F024}</a:tableStyleId>
              </a:tblPr>
              <a:tblGrid>
                <a:gridCol w="3070050"/>
                <a:gridCol w="897400"/>
                <a:gridCol w="932825"/>
                <a:gridCol w="897400"/>
                <a:gridCol w="991850"/>
                <a:gridCol w="1676725"/>
              </a:tblGrid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Method</a:t>
                      </a:r>
                      <a:endParaRPr b="1" sz="1050"/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InfoVQA</a:t>
                      </a:r>
                      <a:endParaRPr b="1" sz="1050"/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ChartQA</a:t>
                      </a:r>
                      <a:endParaRPr b="1" sz="1050"/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DocVQA</a:t>
                      </a:r>
                      <a:endParaRPr b="1" sz="1050"/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SlideVQA</a:t>
                      </a:r>
                      <a:endParaRPr b="1" sz="1050"/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평균 Δ vs Baseline</a:t>
                      </a:r>
                      <a:endParaRPr b="1" sz="1050"/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Baseline</a:t>
                      </a:r>
                      <a:r>
                        <a:rPr lang="en" sz="1050"/>
                        <a:t> (순수 VisRAG)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0.7835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0.6941</a:t>
                      </a:r>
                      <a:endParaRPr b="1"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0.9303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0.7458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—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Hybrid (002)</a:t>
                      </a:r>
                      <a:r>
                        <a:rPr lang="en" sz="1050"/>
                        <a:t> (일괄 OCR)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0.7954</a:t>
                      </a:r>
                      <a:endParaRPr b="1"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0.6757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0.9259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0.7472</a:t>
                      </a:r>
                      <a:endParaRPr b="1"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-0.24%p</a:t>
                      </a:r>
                      <a:endParaRPr b="1"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Selective (003)</a:t>
                      </a:r>
                      <a:r>
                        <a:rPr lang="en" sz="1050"/>
                        <a:t> (mixed만 OCR)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0.7954</a:t>
                      </a:r>
                      <a:endParaRPr b="1"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0.6624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0.9407</a:t>
                      </a:r>
                      <a:endParaRPr b="1"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0.7469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-0.21%p</a:t>
                      </a:r>
                      <a:endParaRPr b="1"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Chart-Aware (004)</a:t>
                      </a:r>
                      <a:r>
                        <a:rPr lang="en" sz="1050"/>
                        <a:t> (chart 특화 OCR)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0.7954</a:t>
                      </a:r>
                      <a:endParaRPr b="1"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0.6693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0.9341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0.7412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-0.34%p</a:t>
                      </a:r>
                      <a:endParaRPr b="1"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119" name="Google Shape;119;p22"/>
          <p:cNvGraphicFramePr/>
          <p:nvPr/>
        </p:nvGraphicFramePr>
        <p:xfrm>
          <a:off x="311675" y="292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{E9923A3D-9EEA-456B-868E-FAADA822F024}</a:tableStyleId>
              </a:tblPr>
              <a:tblGrid>
                <a:gridCol w="2608625"/>
                <a:gridCol w="1120025"/>
                <a:gridCol w="1077475"/>
                <a:gridCol w="1077475"/>
                <a:gridCol w="1190900"/>
                <a:gridCol w="1446100"/>
              </a:tblGrid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Generator Model</a:t>
                      </a:r>
                      <a:endParaRPr b="1" sz="1050"/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ChartQA</a:t>
                      </a:r>
                      <a:endParaRPr b="1" sz="1050"/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DocVQA</a:t>
                      </a:r>
                      <a:endParaRPr b="1" sz="1050"/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InfoVQA</a:t>
                      </a:r>
                      <a:endParaRPr b="1" sz="1050"/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SlideVQA</a:t>
                      </a:r>
                      <a:endParaRPr b="1" sz="1050"/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평균 Δ vs 7B</a:t>
                      </a:r>
                      <a:endParaRPr b="1" sz="1050"/>
                    </a:p>
                  </a:txBody>
                  <a:tcPr marT="47625" marB="47625" marR="95250" marL="9525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Qwen2-VL-7B</a:t>
                      </a:r>
                      <a:r>
                        <a:rPr lang="en" sz="1050"/>
                        <a:t> (baseline)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0.6941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0.9303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0.7835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0.7458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—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InternVL2.5-78B</a:t>
                      </a:r>
                      <a:endParaRPr b="1"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0.6709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0.8939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0.6076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0.7304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-6.27%p</a:t>
                      </a:r>
                      <a:r>
                        <a:rPr lang="en" sz="1050"/>
                        <a:t> ✗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Qwen2-VL-72B</a:t>
                      </a:r>
                      <a:endParaRPr b="1"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0.7770</a:t>
                      </a:r>
                      <a:endParaRPr b="1"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0.9657</a:t>
                      </a:r>
                      <a:endParaRPr b="1"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0.8690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0.7762</a:t>
                      </a:r>
                      <a:endParaRPr b="1"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+5.86%p</a:t>
                      </a:r>
                      <a:r>
                        <a:rPr lang="en" sz="1050"/>
                        <a:t> ★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Qwen2.5-VL-72B</a:t>
                      </a:r>
                      <a:endParaRPr b="1"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0.7349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0.9664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0.8854</a:t>
                      </a:r>
                      <a:endParaRPr b="1"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" sz="1050"/>
                        <a:t>0.7664</a:t>
                      </a:r>
                      <a:endParaRPr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" sz="1050"/>
                        <a:t>+5.39%p</a:t>
                      </a:r>
                      <a:endParaRPr b="1" sz="1050"/>
                    </a:p>
                  </a:txBody>
                  <a:tcPr marT="47625" marB="47625" marR="95250" marL="9525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7452"/>
            <a:ext cx="9144003" cy="4089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